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1" d="100"/>
          <a:sy n="71" d="100"/>
        </p:scale>
        <p:origin x="-108" y="-5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374151"/>
                </a:solidFill>
                <a:latin typeface="Arial"/>
              </a:rPr>
              <a:t>Info channels used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 (%)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08504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WhatsApp/Telegram</c:v>
                </c:pt>
                <c:pt idx="1">
                  <c:v>Classmate</c:v>
                </c:pt>
                <c:pt idx="2">
                  <c:v>Notice board</c:v>
                </c:pt>
                <c:pt idx="3">
                  <c:v>Shows up late</c:v>
                </c:pt>
                <c:pt idx="4">
                  <c:v>University portal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40</c:v>
                </c:pt>
                <c:pt idx="2">
                  <c:v>20</c:v>
                </c:pt>
                <c:pt idx="3">
                  <c:v>10</c:v>
                </c:pt>
                <c:pt idx="4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78057984"/>
        <c:axId val="178059520"/>
      </c:barChart>
      <c:catAx>
        <c:axId val="17805798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178059520"/>
        <c:crosses val="autoZero"/>
        <c:auto val="1"/>
        <c:lblAlgn val="ctr"/>
        <c:lblOffset val="100"/>
        <c:noMultiLvlLbl val="1"/>
      </c:catAx>
      <c:valAx>
        <c:axId val="178059520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178057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374151"/>
                </a:solidFill>
                <a:latin typeface="Arial"/>
              </a:rPr>
              <a:t>UAT pass rate by feature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08504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Auth</c:v>
                </c:pt>
                <c:pt idx="1">
                  <c:v>Dashboard</c:v>
                </c:pt>
                <c:pt idx="2">
                  <c:v>Timetable</c:v>
                </c:pt>
                <c:pt idx="3">
                  <c:v>Announcements</c:v>
                </c:pt>
                <c:pt idx="4">
                  <c:v>Map</c:v>
                </c:pt>
                <c:pt idx="5">
                  <c:v>Directory</c:v>
                </c:pt>
                <c:pt idx="6">
                  <c:v>Admin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4850304"/>
        <c:axId val="184851840"/>
      </c:barChart>
      <c:catAx>
        <c:axId val="1848503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184851840"/>
        <c:crosses val="autoZero"/>
        <c:auto val="1"/>
        <c:lblAlgn val="ctr"/>
        <c:lblOffset val="100"/>
        <c:noMultiLvlLbl val="1"/>
      </c:catAx>
      <c:valAx>
        <c:axId val="184851840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184850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3406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1D9E75">
              <a:alpha val="12000"/>
            </a:srgbClr>
          </a:solidFill>
          <a:ln w="12700">
            <a:solidFill>
              <a:srgbClr val="1D9E7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914400" cy="914400"/>
          </a:xfrm>
          <a:prstGeom prst="rect">
            <a:avLst/>
          </a:prstGeom>
          <a:solidFill>
            <a:srgbClr val="085041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2179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645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Campus Companion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0292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campus information failures at ASTU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" y="2971800"/>
            <a:ext cx="5303520" cy="502920"/>
          </a:xfrm>
          <a:prstGeom prst="rect">
            <a:avLst/>
          </a:prstGeom>
          <a:solidFill>
            <a:srgbClr val="1A2F4A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299923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Software Development  ·  Problem 1  ·  ASTU CSE Final Project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25,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campus information reaches ASTU students today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645920" cy="1691640"/>
          </a:xfrm>
          <a:prstGeom prst="rect">
            <a:avLst/>
          </a:prstGeom>
          <a:solidFill>
            <a:srgbClr val="1A2F4A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258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01168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011680" y="1874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606040" y="1234440"/>
            <a:ext cx="1645920" cy="1691640"/>
          </a:xfrm>
          <a:prstGeom prst="rect">
            <a:avLst/>
          </a:prstGeom>
          <a:solidFill>
            <a:srgbClr val="1A2F4A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32588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06040" y="201168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class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only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297680" y="1874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4892040" y="1234440"/>
            <a:ext cx="1645920" cy="1691640"/>
          </a:xfrm>
          <a:prstGeom prst="rect">
            <a:avLst/>
          </a:prstGeom>
          <a:solidFill>
            <a:srgbClr val="1A2F4A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32588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92040" y="201168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posts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583680" y="1874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7178040" y="1234440"/>
            <a:ext cx="1645920" cy="1691640"/>
          </a:xfrm>
          <a:prstGeom prst="rect">
            <a:avLst/>
          </a:prstGeom>
          <a:solidFill>
            <a:srgbClr val="1A2F4A"/>
          </a:solidFill>
          <a:ln w="12700">
            <a:solidFill>
              <a:srgbClr val="E24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1325880"/>
            <a:ext cx="640080" cy="6400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78040" y="201168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it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0040" y="3154680"/>
            <a:ext cx="2743200" cy="1600200"/>
          </a:xfrm>
          <a:prstGeom prst="rect">
            <a:avLst/>
          </a:prstGeom>
          <a:solidFill>
            <a:srgbClr val="1A2F4A"/>
          </a:solidFill>
          <a:ln w="12700">
            <a:solidFill>
              <a:srgbClr val="E24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320040" y="32004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000" dirty="0"/>
          </a:p>
        </p:txBody>
      </p:sp>
      <p:sp>
        <p:nvSpPr>
          <p:cNvPr id="22" name="Text 16"/>
          <p:cNvSpPr/>
          <p:nvPr/>
        </p:nvSpPr>
        <p:spPr>
          <a:xfrm>
            <a:off x="411480" y="3886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affected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info failures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246120" y="3154680"/>
            <a:ext cx="2743200" cy="1600200"/>
          </a:xfrm>
          <a:prstGeom prst="rect">
            <a:avLst/>
          </a:prstGeom>
          <a:solidFill>
            <a:srgbClr val="1A2F4A"/>
          </a:solidFill>
          <a:ln w="12700">
            <a:solidFill>
              <a:srgbClr val="E24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3246120" y="32004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F</a:t>
            </a:r>
            <a:endParaRPr lang="en-US" sz="3000" dirty="0"/>
          </a:p>
        </p:txBody>
      </p:sp>
      <p:sp>
        <p:nvSpPr>
          <p:cNvPr id="25" name="Text 19"/>
          <p:cNvSpPr/>
          <p:nvPr/>
        </p:nvSpPr>
        <p:spPr>
          <a:xfrm>
            <a:off x="3337560" y="3886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consequence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missed info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172200" y="3154680"/>
            <a:ext cx="2743200" cy="1600200"/>
          </a:xfrm>
          <a:prstGeom prst="rect">
            <a:avLst/>
          </a:prstGeom>
          <a:solidFill>
            <a:srgbClr val="1A2F4A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6172200" y="32004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28" name="Text 22"/>
          <p:cNvSpPr/>
          <p:nvPr/>
        </p:nvSpPr>
        <p:spPr>
          <a:xfrm>
            <a:off x="6263640" y="3886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use the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portal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Findings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responses · 10 students + 3 staff · Online survey (WhatsApp &amp; Telegram)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005840"/>
          <a:ext cx="52120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63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54864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051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source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97880" y="135331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rely on fragmented Telegram/WhatsApp groups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60720" y="1965960"/>
            <a:ext cx="3063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1965960"/>
            <a:ext cx="54864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97880" y="2011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as single point of failure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97880" y="23134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 students depend on one person to relay info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2926080"/>
            <a:ext cx="3063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60720" y="2926080"/>
            <a:ext cx="54864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97880" y="2971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alerts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97880" y="32735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changes found out only upon arrival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60720" y="3886200"/>
            <a:ext cx="3063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760720" y="3886200"/>
            <a:ext cx="54864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97880" y="3931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Inaccessible contacts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897880" y="42336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cannot get the phone numbers" — respondent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Flutter mobile app replacing fragmented WhatsApp chains with one official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1645920"/>
          </a:xfrm>
          <a:prstGeom prst="rect">
            <a:avLst/>
          </a:prstGeom>
          <a:solidFill>
            <a:srgbClr val="1A2F4A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02920" cy="50292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444752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9848" y="14356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Dashboard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9768" y="201168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Schedule, alerts &amp; stats at a glance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1234440"/>
            <a:ext cx="2743200" cy="1645920"/>
          </a:xfrm>
          <a:prstGeom prst="rect">
            <a:avLst/>
          </a:prstGeom>
          <a:solidFill>
            <a:srgbClr val="1A2F4A"/>
          </a:solidFill>
          <a:ln w="12700">
            <a:solidFill>
              <a:srgbClr val="E24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417320"/>
            <a:ext cx="502920" cy="502920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444752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95928" y="14356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55848" y="201168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for room changes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72200" y="1234440"/>
            <a:ext cx="2743200" cy="1645920"/>
          </a:xfrm>
          <a:prstGeom prst="rect">
            <a:avLst/>
          </a:prstGeom>
          <a:solidFill>
            <a:srgbClr val="1A2F4A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09360" y="1417320"/>
            <a:ext cx="502920" cy="50292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1444752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22008" y="14356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81928" y="201168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view, calendar &amp; exam schedule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20040" y="3108960"/>
            <a:ext cx="2743200" cy="1645920"/>
          </a:xfrm>
          <a:prstGeom prst="rect">
            <a:avLst/>
          </a:prstGeom>
          <a:solidFill>
            <a:srgbClr val="1A2F4A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3291840"/>
            <a:ext cx="502920" cy="50292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3319272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69848" y="3310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29768" y="388620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feed with search &amp; filters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46120" y="3108960"/>
            <a:ext cx="2743200" cy="1645920"/>
          </a:xfrm>
          <a:prstGeom prst="rect">
            <a:avLst/>
          </a:prstGeom>
          <a:solidFill>
            <a:srgbClr val="1A2F4A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83280" y="3291840"/>
            <a:ext cx="502920" cy="50292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3319272"/>
            <a:ext cx="448056" cy="4480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95928" y="3310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Map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355848" y="388620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ASTU map via OpenStreetMap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172200" y="3108960"/>
            <a:ext cx="2743200" cy="1645920"/>
          </a:xfrm>
          <a:prstGeom prst="rect">
            <a:avLst/>
          </a:prstGeom>
          <a:solidFill>
            <a:srgbClr val="1A2F4A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309360" y="3291840"/>
            <a:ext cx="502920" cy="50292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792" y="3319272"/>
            <a:ext cx="448056" cy="4480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22008" y="3310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Directory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281928" y="388620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info, hours &amp; office location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architecture · Flutter + Firebase Firestore + OpenStreetMap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188720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91640" y="1005840"/>
            <a:ext cx="3108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91640" y="1005840"/>
            <a:ext cx="3108960" cy="914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11887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 App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83480" y="1005840"/>
            <a:ext cx="3108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1005840"/>
            <a:ext cx="3108960" cy="914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1887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Admin Panel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" y="2011680"/>
            <a:ext cx="54864" cy="118872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267712"/>
            <a:ext cx="1188720" cy="10058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267712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91640" y="2267712"/>
            <a:ext cx="3108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691640" y="2267712"/>
            <a:ext cx="3108960" cy="914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83080" y="24505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+ Firestore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83480" y="2267712"/>
            <a:ext cx="3108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83480" y="2267712"/>
            <a:ext cx="3108960" cy="914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4505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Push Notifications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" y="3273552"/>
            <a:ext cx="54864" cy="118872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40050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529584"/>
            <a:ext cx="1188720" cy="100584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529584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691640" y="3529584"/>
            <a:ext cx="3108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691640" y="3529584"/>
            <a:ext cx="3108960" cy="9144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83080" y="3712464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Collections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83480" y="3529584"/>
            <a:ext cx="3108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83480" y="3529584"/>
            <a:ext cx="3108960" cy="9144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3712464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Offline Cache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06640" y="1005840"/>
            <a:ext cx="14173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406640" y="1005840"/>
            <a:ext cx="1417320" cy="320040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06640" y="10058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13716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406640" y="1691640"/>
            <a:ext cx="141732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0" y="181965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406640" y="2139696"/>
            <a:ext cx="141732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0" y="226771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406640" y="2587752"/>
            <a:ext cx="141732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0" y="271576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06640" y="3035808"/>
            <a:ext cx="141732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0" y="316382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406640" y="3483864"/>
            <a:ext cx="141732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0" y="3611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staff_profiles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406640" y="3931920"/>
            <a:ext cx="141732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0" y="405993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device_tokens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457200"/>
            <a:ext cx="3108960" cy="3108960"/>
          </a:xfrm>
          <a:prstGeom prst="ellipse">
            <a:avLst/>
          </a:prstGeom>
          <a:solidFill>
            <a:srgbClr val="1D9E75">
              <a:alpha val="12000"/>
            </a:srgbClr>
          </a:solidFill>
          <a:ln w="12700">
            <a:solidFill>
              <a:srgbClr val="1D9E75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66160" y="1005840"/>
            <a:ext cx="2011680" cy="2011680"/>
          </a:xfrm>
          <a:prstGeom prst="ellipse">
            <a:avLst/>
          </a:prstGeom>
          <a:solidFill>
            <a:srgbClr val="1D9E75">
              <a:alpha val="28000"/>
            </a:srgbClr>
          </a:solidFill>
          <a:ln w="12700">
            <a:solidFill>
              <a:srgbClr val="1D9E75">
                <a:alpha val="32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28016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514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Demonstrating the full student and staff journey on a real Android device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822192"/>
            <a:ext cx="2651760" cy="411480"/>
          </a:xfrm>
          <a:prstGeom prst="rect">
            <a:avLst/>
          </a:prstGeom>
          <a:solidFill>
            <a:srgbClr val="1A2F4A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8221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Login as Yared (student)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3822192"/>
            <a:ext cx="2651760" cy="411480"/>
          </a:xfrm>
          <a:prstGeom prst="rect">
            <a:avLst/>
          </a:prstGeom>
          <a:solidFill>
            <a:srgbClr val="1A2F4A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29000" y="38221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Dashboard &amp; Today's Schedule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3822192"/>
            <a:ext cx="2651760" cy="411480"/>
          </a:xfrm>
          <a:prstGeom prst="rect">
            <a:avLst/>
          </a:prstGeom>
          <a:solidFill>
            <a:srgbClr val="1A2F4A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38221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Urgent Alert &amp; Announcements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4325112"/>
            <a:ext cx="2651760" cy="411480"/>
          </a:xfrm>
          <a:prstGeom prst="rect">
            <a:avLst/>
          </a:prstGeom>
          <a:solidFill>
            <a:srgbClr val="1A2F4A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3251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Campus Map (real ASTU)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337560" y="4325112"/>
            <a:ext cx="2651760" cy="411480"/>
          </a:xfrm>
          <a:prstGeom prst="rect">
            <a:avLst/>
          </a:prstGeom>
          <a:solidFill>
            <a:srgbClr val="1A2F4A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9000" y="43251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Login as Haile (staff)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0" y="4325112"/>
            <a:ext cx="2651760" cy="411480"/>
          </a:xfrm>
          <a:prstGeom prst="rect">
            <a:avLst/>
          </a:prstGeom>
          <a:solidFill>
            <a:srgbClr val="1A2F4A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43251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Post → Yared sees it live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· Widget integration tests · User Acceptance Testing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515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00584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0515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1460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tests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0515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0916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cases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00584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10515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90372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0372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pass rate</a:t>
            </a:r>
            <a:endParaRPr lang="en-US" sz="10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320040" y="2514600"/>
          <a:ext cx="85039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minimum requirements — each feature requested by actual survey respondents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206240" cy="1737360"/>
          </a:xfrm>
          <a:prstGeom prst="rect">
            <a:avLst/>
          </a:prstGeom>
          <a:solidFill>
            <a:srgbClr val="1A2F4A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53312"/>
            <a:ext cx="530352" cy="53035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380744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3533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Architecture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901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timetable with zero internet using Hive cache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514600"/>
            <a:ext cx="3931920" cy="292608"/>
          </a:xfrm>
          <a:prstGeom prst="rect">
            <a:avLst/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5146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Survey: "I need an offline app"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54880" y="1188720"/>
            <a:ext cx="4206240" cy="1737360"/>
          </a:xfrm>
          <a:prstGeom prst="rect">
            <a:avLst/>
          </a:prstGeom>
          <a:solidFill>
            <a:srgbClr val="1A2F4A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92040" y="1353312"/>
            <a:ext cx="530352" cy="53035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380744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32120" y="13533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ASTU Google Maps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892040" y="1901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locked to campus (8.5644°N, 39.2921°E)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892040" y="2514600"/>
            <a:ext cx="3931920" cy="292608"/>
          </a:xfrm>
          <a:prstGeom prst="rect">
            <a:avLst/>
          </a:prstGeom>
          <a:solidFill>
            <a:srgbClr val="185FA5">
              <a:alpha val="15000"/>
            </a:srgbClr>
          </a:solidFill>
          <a:ln w="12700">
            <a:solidFill>
              <a:srgbClr val="185FA5">
                <a:alpha val="3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983480" y="25146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navigation score: 2.3/5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20040" y="3108960"/>
            <a:ext cx="4206240" cy="1737360"/>
          </a:xfrm>
          <a:prstGeom prst="rect">
            <a:avLst/>
          </a:prstGeom>
          <a:solidFill>
            <a:srgbClr val="1A2F4A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7200" y="3273552"/>
            <a:ext cx="530352" cy="530352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300984"/>
            <a:ext cx="475488" cy="4754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97280" y="32735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Analytics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38221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rates, delivery count, time-to-read per post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57200" y="4434840"/>
            <a:ext cx="3931920" cy="292608"/>
          </a:xfrm>
          <a:prstGeom prst="rect">
            <a:avLst/>
          </a:prstGeom>
          <a:solidFill>
            <a:srgbClr val="EF9F27">
              <a:alpha val="15000"/>
            </a:srgbClr>
          </a:solidFill>
          <a:ln w="12700">
            <a:solidFill>
              <a:srgbClr val="EF9F27">
                <a:alpha val="30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48640" y="44348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guessing if rep forwarded message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754880" y="3108960"/>
            <a:ext cx="4206240" cy="1737360"/>
          </a:xfrm>
          <a:prstGeom prst="rect">
            <a:avLst/>
          </a:prstGeom>
          <a:solidFill>
            <a:srgbClr val="1A2F4A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892040" y="3273552"/>
            <a:ext cx="530352" cy="53035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300984"/>
            <a:ext cx="475488" cy="47548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32120" y="32735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Dual-role Interface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4892040" y="38221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 — student dashboard OR staff admin panel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892040" y="4434840"/>
            <a:ext cx="3931920" cy="292608"/>
          </a:xfrm>
          <a:prstGeom prst="rect">
            <a:avLst/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30000"/>
              </a:srgbClr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983480" y="44348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staff willing to use admin panel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is evidence-backed — mapped directly to research findings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79476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E24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54864" cy="53035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3611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info source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60520" y="100584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160520" cy="530352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54864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0584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official app replaces all Telegram groups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673352"/>
            <a:ext cx="379476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E24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673352"/>
            <a:ext cx="54864" cy="53035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673352"/>
            <a:ext cx="3611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rep single point of failure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60520" y="167335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1673352"/>
            <a:ext cx="4160520" cy="530352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673352"/>
            <a:ext cx="54864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67335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post directly to all students via admin panel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340864"/>
            <a:ext cx="379476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E24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340864"/>
            <a:ext cx="54864" cy="53035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340864"/>
            <a:ext cx="3611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alerts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60520" y="234086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63440" y="2340864"/>
            <a:ext cx="4160520" cy="530352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340864"/>
            <a:ext cx="54864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340864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push notifications within seconds of posting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008376"/>
            <a:ext cx="379476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E24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08376"/>
            <a:ext cx="54864" cy="53035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08376"/>
            <a:ext cx="3611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find staff contacts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60520" y="300837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663440" y="3008376"/>
            <a:ext cx="4160520" cy="530352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008376"/>
            <a:ext cx="54864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0083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directory with email, extension, office hours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3675888"/>
            <a:ext cx="379476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E24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3675888"/>
            <a:ext cx="54864" cy="53035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675888"/>
            <a:ext cx="3611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difficulty (2.3/5)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60520" y="367588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663440" y="3675888"/>
            <a:ext cx="4160520" cy="530352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3675888"/>
            <a:ext cx="54864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67588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ASTU campus map with search &amp; markers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4343400"/>
            <a:ext cx="379476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E24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" y="4343400"/>
            <a:ext cx="54864" cy="53035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343400"/>
            <a:ext cx="3611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offline timetable access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60520" y="434340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663440" y="4343400"/>
            <a:ext cx="4160520" cy="530352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4343400"/>
            <a:ext cx="54864" cy="5303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434340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cache — works without any internet connection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1D9E75">
              <a:alpha val="10000"/>
            </a:srgbClr>
          </a:solidFill>
          <a:ln w="12700">
            <a:solidFill>
              <a:srgbClr val="1D9E75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560320"/>
            <a:ext cx="3657600" cy="3657600"/>
          </a:xfrm>
          <a:prstGeom prst="ellipse">
            <a:avLst/>
          </a:prstGeom>
          <a:solidFill>
            <a:srgbClr val="1D9E75">
              <a:alpha val="12000"/>
            </a:srgbClr>
          </a:solidFill>
          <a:ln w="12700">
            <a:solidFill>
              <a:srgbClr val="1D9E75">
                <a:alpha val="15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1148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737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Campus Companion — ASTU CSE Final Project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77240" y="3154680"/>
            <a:ext cx="1783080" cy="1234440"/>
          </a:xfrm>
          <a:prstGeom prst="rect">
            <a:avLst/>
          </a:prstGeom>
          <a:solidFill>
            <a:srgbClr val="1A2F4A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3200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88920" y="3154680"/>
            <a:ext cx="1783080" cy="1234440"/>
          </a:xfrm>
          <a:prstGeom prst="rect">
            <a:avLst/>
          </a:prstGeom>
          <a:solidFill>
            <a:srgbClr val="1A2F4A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788920" y="3200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2788920" y="37947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screens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00600" y="3154680"/>
            <a:ext cx="1783080" cy="1234440"/>
          </a:xfrm>
          <a:prstGeom prst="rect">
            <a:avLst/>
          </a:prstGeom>
          <a:solidFill>
            <a:srgbClr val="1A2F4A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00600" y="3200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4800600" y="37947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812280" y="3154680"/>
            <a:ext cx="1783080" cy="1234440"/>
          </a:xfrm>
          <a:prstGeom prst="rect">
            <a:avLst/>
          </a:prstGeom>
          <a:solidFill>
            <a:srgbClr val="1A2F4A"/>
          </a:solidFill>
          <a:ln w="1270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12280" y="3200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6812280" y="37947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met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548</Words>
  <Application>Microsoft Office PowerPoint</Application>
  <PresentationFormat>On-screen Show (16:9)</PresentationFormat>
  <Paragraphs>150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Campus Companion</dc:title>
  <dc:subject>PptxGenJS Presentation</dc:subject>
  <dc:creator>PptxGenJS</dc:creator>
  <cp:lastModifiedBy>HP</cp:lastModifiedBy>
  <cp:revision>2</cp:revision>
  <dcterms:created xsi:type="dcterms:W3CDTF">2026-05-25T05:53:29Z</dcterms:created>
  <dcterms:modified xsi:type="dcterms:W3CDTF">2026-05-25T06:21:26Z</dcterms:modified>
</cp:coreProperties>
</file>